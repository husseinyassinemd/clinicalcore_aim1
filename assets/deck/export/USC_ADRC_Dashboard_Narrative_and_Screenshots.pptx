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744"/>
                </a:solidFill>
              </a:defRPr>
            </a:pPr>
            <a:r>
              <a:t>USC ADRC Clinical Core · Aim 1 Metrics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4B8A"/>
                </a:solidFill>
              </a:defRPr>
            </a:pPr>
            <a:r>
              <a:t>Reporting window: 1/1/2026 – 9/30/2026  ·  Mid-cycle RPPR-aligned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505050"/>
                </a:solidFill>
              </a:defRPr>
            </a:pPr>
            <a:r>
              <a:t>Purpose. Single dashboard for programmatic and core leads—same visuals we use in RPPR, updated between formal milestone cycles so the center can communicate progress with less back-and-forth.</a:t>
            </a:r>
          </a:p>
          <a:p>
            <a:pPr>
              <a:spcAft>
                <a:spcPts val="1000"/>
              </a:spcAft>
              <a:defRPr sz="1300">
                <a:solidFill>
                  <a:srgbClr val="505050"/>
                </a:solidFill>
              </a:defRPr>
            </a:pPr>
            <a:r>
              <a:t>How to read colors. Black numbers = calendar year-to-date from the harmonized Data Core package and USC REDCap re-aggregates. Green = last RPPR / workbook cumulative context. Red = not yet in export (do not cite).</a:t>
            </a:r>
          </a:p>
          <a:p>
            <a:pPr>
              <a:spcAft>
                <a:spcPts val="1000"/>
              </a:spcAft>
              <a:defRPr sz="1300">
                <a:solidFill>
                  <a:srgbClr val="505050"/>
                </a:solidFill>
              </a:defRPr>
            </a:pPr>
            <a:r>
              <a:t>Highlights this period. ADRC 222 participants with ≥1 UDS visit; 24 new initial evaluations. GeneScreen registry 739 members (REDCap); 55 new and 87 online enrollments YTD. Specimen sharing: 7 biofluid requests, 568 plasma aliquots; 34 neurobank requests.</a:t>
            </a:r>
          </a:p>
          <a:p>
            <a:pPr>
              <a:spcAft>
                <a:spcPts val="1000"/>
              </a:spcAft>
              <a:defRPr sz="1300">
                <a:solidFill>
                  <a:srgbClr val="505050"/>
                </a:solidFill>
              </a:defRPr>
            </a:pPr>
            <a:r>
              <a:t>Verification. Automated validation ties on-screen metrics to source JSON/CSV (npm run validate:all). Attach USC_ADRC_Dashboard_Metric_Provenance.pdf for row-level sources.</a:t>
            </a:r>
          </a:p>
          <a:p>
            <a:pPr>
              <a:spcAft>
                <a:spcPts val="1000"/>
              </a:spcAft>
              <a:defRPr sz="1300">
                <a:solidFill>
                  <a:srgbClr val="505050"/>
                </a:solidFill>
              </a:defRPr>
            </a:pPr>
            <a:r>
              <a:t>Next. PeBRx workstream starting; dashboard refreshes when new harmonized exports and REDCap pulls are dropped in data/.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505050"/>
                </a:solidFill>
              </a:defRPr>
            </a:pPr>
            <a:r>
              <a:t>Generated 2026-10-08 20:21 UTC · Data: James &amp; Xinhui Wang (harmonized package); Adrienne REDCap exports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Recruitment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GeneScreen, ADRC &amp; BRS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Recruitment · GeneScreen, ADRC &amp; BRS (1 of 2)</a:t>
            </a:r>
          </a:p>
        </p:txBody>
      </p:sp>
      <p:pic>
        <p:nvPicPr>
          <p:cNvPr id="3" name="Picture 2" descr="01-recruitment-p01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969344"/>
            <a:ext cx="11935663" cy="5138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Recruitment · GeneScreen, ADRC &amp; BRS (2 of 2)</a:t>
            </a:r>
          </a:p>
        </p:txBody>
      </p:sp>
      <p:pic>
        <p:nvPicPr>
          <p:cNvPr id="3" name="Picture 2" descr="01-recruitment-p02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6" y="530352"/>
            <a:ext cx="11084363" cy="6016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Demographics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Table 1 · charts &amp; cohort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Demographics · Table 1 · charts &amp; cohort (1 of 5)</a:t>
            </a:r>
          </a:p>
        </p:txBody>
      </p:sp>
      <p:pic>
        <p:nvPicPr>
          <p:cNvPr id="3" name="Picture 2" descr="02-demographics-p01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366558"/>
            <a:ext cx="11935663" cy="4344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Demographics · Table 1 · charts &amp; cohort (2 of 5)</a:t>
            </a:r>
          </a:p>
        </p:txBody>
      </p:sp>
      <p:pic>
        <p:nvPicPr>
          <p:cNvPr id="3" name="Picture 2" descr="02-demographics-p02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448885"/>
            <a:ext cx="11935663" cy="21796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Demographics · Table 1 · charts &amp; cohort (3 of 5)</a:t>
            </a:r>
          </a:p>
        </p:txBody>
      </p:sp>
      <p:pic>
        <p:nvPicPr>
          <p:cNvPr id="3" name="Picture 2" descr="02-demographics-p03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34203"/>
            <a:ext cx="11935663" cy="42090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Demographics · Table 1 · charts &amp; cohort (4 of 5)</a:t>
            </a:r>
          </a:p>
        </p:txBody>
      </p:sp>
      <p:pic>
        <p:nvPicPr>
          <p:cNvPr id="3" name="Picture 2" descr="02-demographics-p04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426336"/>
            <a:ext cx="11935663" cy="2224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Demographics · Table 1 · charts &amp; cohort (5 of 5)</a:t>
            </a:r>
          </a:p>
        </p:txBody>
      </p:sp>
      <p:pic>
        <p:nvPicPr>
          <p:cNvPr id="3" name="Picture 2" descr="02-demographics-p05o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572500"/>
            <a:ext cx="11935663" cy="3932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Neuropathology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Autopsy metrics &amp; tissue inquiries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Neuropathology · Autopsy metrics &amp; tissue inquiries (1 of 2)</a:t>
            </a:r>
          </a:p>
        </p:txBody>
      </p:sp>
      <p:pic>
        <p:nvPicPr>
          <p:cNvPr id="3" name="Picture 2" descr="03-neuropathology-p01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64268"/>
            <a:ext cx="11935663" cy="4148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Neuropathology · Autopsy metrics &amp; tissue inquiries (2 of 2)</a:t>
            </a:r>
          </a:p>
        </p:txBody>
      </p:sp>
      <p:pic>
        <p:nvPicPr>
          <p:cNvPr id="3" name="Picture 2" descr="03-neuropathology-p02o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050528"/>
            <a:ext cx="11935663" cy="2976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ORE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Outreach, recruitment &amp; engagement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ORE · Outreach, recruitment &amp; engagement (1 of 3)</a:t>
            </a:r>
          </a:p>
        </p:txBody>
      </p:sp>
      <p:pic>
        <p:nvPicPr>
          <p:cNvPr id="3" name="Picture 2" descr="04-ore-p01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344009"/>
            <a:ext cx="11935663" cy="43894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ORE · Outreach, recruitment &amp; engagement (2 of 3)</a:t>
            </a:r>
          </a:p>
        </p:txBody>
      </p:sp>
      <p:pic>
        <p:nvPicPr>
          <p:cNvPr id="3" name="Picture 2" descr="04-ore-p02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10" y="530352"/>
            <a:ext cx="9612275" cy="60167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ORE · Outreach, recruitment &amp; engagement (3 of 3)</a:t>
            </a:r>
          </a:p>
        </p:txBody>
      </p:sp>
      <p:pic>
        <p:nvPicPr>
          <p:cNvPr id="3" name="Picture 2" descr="04-ore-p03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997915"/>
            <a:ext cx="11935663" cy="30816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Biomarkers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Collection, NCRAD, biofluid inquiries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Biomarkers · Collection, NCRAD, biofluid inquiries (1 of 4)</a:t>
            </a:r>
          </a:p>
        </p:txBody>
      </p:sp>
      <p:pic>
        <p:nvPicPr>
          <p:cNvPr id="3" name="Picture 2" descr="05-biomarkers-p01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569494"/>
            <a:ext cx="11935663" cy="39384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Biomarkers · Collection, NCRAD, biofluid inquiries (2 of 4)</a:t>
            </a:r>
          </a:p>
        </p:txBody>
      </p:sp>
      <p:pic>
        <p:nvPicPr>
          <p:cNvPr id="3" name="Picture 2" descr="05-biomarkers-p02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62328"/>
            <a:ext cx="11935663" cy="59527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Biomarkers · Collection, NCRAD, biofluid inquiries (3 of 4)</a:t>
            </a:r>
          </a:p>
        </p:txBody>
      </p:sp>
      <p:pic>
        <p:nvPicPr>
          <p:cNvPr id="3" name="Picture 2" descr="05-biomarkers-p03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840076"/>
            <a:ext cx="11935663" cy="33973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Biomarkers · Collection, NCRAD, biofluid inquiries (4 of 4)</a:t>
            </a:r>
          </a:p>
        </p:txBody>
      </p:sp>
      <p:pic>
        <p:nvPicPr>
          <p:cNvPr id="3" name="Picture 2" descr="05-biomarkers-p04o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813368"/>
            <a:ext cx="11935663" cy="545071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REC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Research engagement coordinator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REC · Research engagement coordinator</a:t>
            </a:r>
          </a:p>
        </p:txBody>
      </p:sp>
      <p:pic>
        <p:nvPicPr>
          <p:cNvPr id="3" name="Picture 2" descr="06-rec-p01o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2376730"/>
            <a:ext cx="11935663" cy="23239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146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744"/>
                </a:solidFill>
              </a:defRPr>
            </a:pPr>
            <a:r>
              <a:t>Imaging</a:t>
            </a:r>
          </a:p>
          <a:p>
            <a:pPr algn="ctr">
              <a:spcBef>
                <a:spcPts val="800"/>
              </a:spcBef>
              <a:defRPr sz="1800">
                <a:solidFill>
                  <a:srgbClr val="5B4B8A"/>
                </a:solidFill>
              </a:defRPr>
            </a:pPr>
            <a:r>
              <a:t>SCAN, CLARiTI &amp; IDA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Imaging · SCAN, CLARiTI &amp; IDA (1 of 3)</a:t>
            </a:r>
          </a:p>
        </p:txBody>
      </p:sp>
      <p:pic>
        <p:nvPicPr>
          <p:cNvPr id="3" name="Picture 2" descr="07-imaging-p01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016305"/>
            <a:ext cx="11935663" cy="50448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Imaging · SCAN, CLARiTI &amp; IDA (2 of 3)</a:t>
            </a:r>
          </a:p>
        </p:txBody>
      </p:sp>
      <p:pic>
        <p:nvPicPr>
          <p:cNvPr id="3" name="Picture 2" descr="07-imaging-p02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629974"/>
            <a:ext cx="11935663" cy="58175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" y="228600"/>
            <a:ext cx="1193566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744"/>
                </a:solidFill>
              </a:defRPr>
            </a:pPr>
            <a:r>
              <a:t>Imaging · SCAN, CLARiTI &amp; IDA (3 of 3)</a:t>
            </a:r>
          </a:p>
        </p:txBody>
      </p:sp>
      <p:pic>
        <p:nvPicPr>
          <p:cNvPr id="3" name="Picture 2" descr="07-imaging-p03o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419171"/>
            <a:ext cx="11935663" cy="42391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